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4251960"/>
            <a:ext cx="2194560" cy="2194560"/>
          </a:xfrm>
          <a:prstGeom prst="ellipse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4434840"/>
            <a:ext cx="1737360" cy="1737360"/>
          </a:xfrm>
          <a:prstGeom prst="ellipse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4572000"/>
            <a:ext cx="1234440" cy="123444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694944" cy="6949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806440"/>
            <a:ext cx="3419856" cy="384048"/>
          </a:xfrm>
          <a:prstGeom prst="roundRect">
            <a:avLst/>
          </a:prstGeom>
          <a:solidFill>
            <a:srgbClr val="17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879592"/>
            <a:ext cx="323697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MULTI-MODEL AI API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25880"/>
            <a:ext cx="4937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AIPIs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5394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C9D1E5"/>
                </a:solidFill>
                <a:latin typeface="Aptos"/>
              </a:rPr>
              <a:t>A unified platform for accessing, routing, and monetizing AI providers like ChatGPT, Claude, Qwen, Ollama, and future model endpoints from one product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D6FF72"/>
                </a:solidFill>
                <a:latin typeface="Aptos"/>
              </a:rPr>
              <a:t>Pitch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9D1E5"/>
                </a:solidFill>
                <a:latin typeface="Aptos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1234440" cy="384048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1120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589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D1120"/>
                </a:solidFill>
                <a:latin typeface="Aptos"/>
              </a:rPr>
              <a:t>The AI ecosystem is fragmented, fast-moving, and painful to integrate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57B"/>
                </a:solidFill>
                <a:latin typeface="Aptos"/>
              </a:rPr>
              <a:t>Teams want access to the best model for each task, but every provider adds auth, schema differences, pricing logic, fallback behavior, and operational complexity.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34640"/>
            <a:ext cx="25146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834640"/>
            <a:ext cx="2514600" cy="7315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358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Too many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1945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OpenAI, Anthropic, Qwen, Ollama, and others all require separate integration and maintenance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2834640"/>
            <a:ext cx="25146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2834640"/>
            <a:ext cx="2514600" cy="73152"/>
          </a:xfrm>
          <a:prstGeom prst="rect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30358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Switching is expensive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3456432"/>
            <a:ext cx="21945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Moving products between models often means rewriting prompt logic, schemas, and app controls.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2834640"/>
            <a:ext cx="25146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2834640"/>
            <a:ext cx="2514600" cy="73152"/>
          </a:xfrm>
          <a:prstGeom prst="rect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30358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No shared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3456432"/>
            <a:ext cx="21945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Without a platform layer, usage, routing, billing, and failover stay fragmented.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2834640"/>
            <a:ext cx="26517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13648" y="2834640"/>
            <a:ext cx="2651760" cy="73152"/>
          </a:xfrm>
          <a:prstGeom prst="rect">
            <a:avLst/>
          </a:prstGeom>
          <a:solidFill>
            <a:srgbClr val="D6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6" y="303580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Lock-in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3456432"/>
            <a:ext cx="233172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One-provider dependency creates business risk the moment model quality, pricing, or availability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1234440" cy="384048"/>
          </a:xfrm>
          <a:prstGeom prst="roundRect">
            <a:avLst/>
          </a:prstGeom>
          <a:solidFill>
            <a:srgbClr val="17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AIPIs gives users and developers one access layer across many AI providers.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7132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9D1E5"/>
                </a:solidFill>
                <a:latin typeface="Aptos"/>
              </a:rPr>
              <a:t>The platform provides a chat experience, provider switchboard, unified API gateway, and control plane for usage, routing, and model orchestration.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26080"/>
            <a:ext cx="2514600" cy="173736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1F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926080"/>
            <a:ext cx="2514600" cy="73152"/>
          </a:xfrm>
          <a:prstGeom prst="rect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1272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Chat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47872"/>
            <a:ext cx="21945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Users can interact with different models from one product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2926080"/>
            <a:ext cx="2514600" cy="173736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2926080"/>
            <a:ext cx="2514600" cy="7315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31272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Unified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3547872"/>
            <a:ext cx="21945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Developers hit one endpoint layer instead of wiring every provider directly.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2926080"/>
            <a:ext cx="2514600" cy="173736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62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2926080"/>
            <a:ext cx="2514600" cy="73152"/>
          </a:xfrm>
          <a:prstGeom prst="rect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31272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Routing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3547872"/>
            <a:ext cx="21945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Requests can be sent to the best model by policy, latency, cost, or workload 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2926080"/>
            <a:ext cx="2651760" cy="173736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D6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13648" y="2926080"/>
            <a:ext cx="2651760" cy="73152"/>
          </a:xfrm>
          <a:prstGeom prst="rect">
            <a:avLst/>
          </a:prstGeom>
          <a:solidFill>
            <a:srgbClr val="D6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6" y="312724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Usage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3547872"/>
            <a:ext cx="23317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Metering, quotas, and customer plans attach directly to AI usage.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1773936" cy="384048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5910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1120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132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D1120"/>
                </a:solidFill>
                <a:latin typeface="Aptos"/>
              </a:rPr>
              <a:t>An orchestration layer between apps and model providers.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69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57B"/>
                </a:solidFill>
                <a:latin typeface="Aptos"/>
              </a:rPr>
              <a:t>AIPIs can support hosted LLMs, open-weight deployments, local inference, and future providers through one commercial and operational plane.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926080"/>
            <a:ext cx="9601200" cy="36576"/>
          </a:xfrm>
          <a:prstGeom prst="rect">
            <a:avLst/>
          </a:prstGeom>
          <a:solidFill>
            <a:srgbClr val="DE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2728" y="2697480"/>
            <a:ext cx="384048" cy="384048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246120"/>
            <a:ext cx="18288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3246120"/>
            <a:ext cx="1828800" cy="7315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44728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867912"/>
            <a:ext cx="15087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User app, chat client, or API consumer</a:t>
            </a:r>
          </a:p>
        </p:txBody>
      </p:sp>
      <p:sp>
        <p:nvSpPr>
          <p:cNvPr id="13" name="Oval 12"/>
          <p:cNvSpPr/>
          <p:nvPr/>
        </p:nvSpPr>
        <p:spPr>
          <a:xfrm>
            <a:off x="3337560" y="2697480"/>
            <a:ext cx="384048" cy="384048"/>
          </a:xfrm>
          <a:prstGeom prst="ellipse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79" y="3246120"/>
            <a:ext cx="18288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79" y="3246120"/>
            <a:ext cx="1828800" cy="73152"/>
          </a:xfrm>
          <a:prstGeom prst="rect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7" y="344728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3867912"/>
            <a:ext cx="15087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Auth, normalization, quotas</a:t>
            </a:r>
          </a:p>
        </p:txBody>
      </p:sp>
      <p:sp>
        <p:nvSpPr>
          <p:cNvPr id="18" name="Oval 17"/>
          <p:cNvSpPr/>
          <p:nvPr/>
        </p:nvSpPr>
        <p:spPr>
          <a:xfrm>
            <a:off x="5422392" y="2697480"/>
            <a:ext cx="384048" cy="384048"/>
          </a:xfrm>
          <a:prstGeom prst="ellipse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10912" y="3246120"/>
            <a:ext cx="18288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912" y="3246120"/>
            <a:ext cx="1828800" cy="73152"/>
          </a:xfrm>
          <a:prstGeom prst="rect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44728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867912"/>
            <a:ext cx="15087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Policy, fallback, model selection</a:t>
            </a:r>
          </a:p>
        </p:txBody>
      </p:sp>
      <p:sp>
        <p:nvSpPr>
          <p:cNvPr id="23" name="Oval 22"/>
          <p:cNvSpPr/>
          <p:nvPr/>
        </p:nvSpPr>
        <p:spPr>
          <a:xfrm>
            <a:off x="7507223" y="2697480"/>
            <a:ext cx="384048" cy="384048"/>
          </a:xfrm>
          <a:prstGeom prst="ellipse">
            <a:avLst/>
          </a:prstGeom>
          <a:solidFill>
            <a:srgbClr val="FF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95744" y="3246120"/>
            <a:ext cx="18288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5744" y="3246120"/>
            <a:ext cx="1828800" cy="73152"/>
          </a:xfrm>
          <a:prstGeom prst="rect">
            <a:avLst/>
          </a:prstGeom>
          <a:solidFill>
            <a:srgbClr val="FF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344728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Providers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3867912"/>
            <a:ext cx="15087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Claude, ChatGPT, Qwen, Ollama</a:t>
            </a:r>
          </a:p>
        </p:txBody>
      </p:sp>
      <p:sp>
        <p:nvSpPr>
          <p:cNvPr id="28" name="Oval 27"/>
          <p:cNvSpPr/>
          <p:nvPr/>
        </p:nvSpPr>
        <p:spPr>
          <a:xfrm>
            <a:off x="9592055" y="2697480"/>
            <a:ext cx="384048" cy="384048"/>
          </a:xfrm>
          <a:prstGeom prst="ellipse">
            <a:avLst/>
          </a:prstGeom>
          <a:solidFill>
            <a:srgbClr val="D6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3246120"/>
            <a:ext cx="18288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0576" y="3246120"/>
            <a:ext cx="1828800" cy="73152"/>
          </a:xfrm>
          <a:prstGeom prst="rect">
            <a:avLst/>
          </a:prstGeom>
          <a:solidFill>
            <a:srgbClr val="D6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1744" y="344728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Control plane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3867912"/>
            <a:ext cx="15087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Logs, billing,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2103120" cy="384048"/>
          </a:xfrm>
          <a:prstGeom prst="roundRect">
            <a:avLst/>
          </a:prstGeom>
          <a:solidFill>
            <a:srgbClr val="17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9202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8046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The moat is control across providers, not dependence on one model vendor.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880360"/>
            <a:ext cx="3291840" cy="178308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880360"/>
            <a:ext cx="3291840" cy="7315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0815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Unified switching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02152"/>
            <a:ext cx="297180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AIPIs makes provider changes operationally cheap for the customer.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2880360"/>
            <a:ext cx="3291840" cy="178308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1F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2" y="2880360"/>
            <a:ext cx="3291840" cy="73152"/>
          </a:xfrm>
          <a:prstGeom prst="rect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0815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Commercial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02152"/>
            <a:ext cx="297180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Usage, quotas, plans, and product controls are built into the AI layer itself.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7536" y="2880360"/>
            <a:ext cx="3520440" cy="178308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62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17536" y="2880360"/>
            <a:ext cx="3520440" cy="73152"/>
          </a:xfrm>
          <a:prstGeom prst="rect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18704" y="30815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Resilience and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3502152"/>
            <a:ext cx="320040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Fallback and routing reduce outages, latency problems, and provider volatility.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57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9D1E5"/>
                </a:solidFill>
                <a:latin typeface="Aptos"/>
              </a:rPr>
              <a:t>AIPIs helps teams ship multi-model products faster while retaining visibility and flexibility as the market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1234440" cy="384048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1120"/>
                </a:solidFill>
                <a:latin typeface="Aptos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132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D1120"/>
                </a:solidFill>
                <a:latin typeface="Aptos"/>
              </a:rPr>
              <a:t>Customers range from individual power users to developer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834640"/>
            <a:ext cx="25146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834640"/>
            <a:ext cx="2514600" cy="7315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0358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Power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456432"/>
            <a:ext cx="21945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Users who want access to multiple AI models without managing separate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834640"/>
            <a:ext cx="25146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2834640"/>
            <a:ext cx="2514600" cy="73152"/>
          </a:xfrm>
          <a:prstGeom prst="rect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30358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Startups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3456432"/>
            <a:ext cx="21945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Product teams building features on top of more than one provider.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2834640"/>
            <a:ext cx="25146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1888" y="2834640"/>
            <a:ext cx="2514600" cy="73152"/>
          </a:xfrm>
          <a:prstGeom prst="rect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30358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Enterprise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3456432"/>
            <a:ext cx="21945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Operators who need governance, routing, cost control, and provider flexibility.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3648" y="2834640"/>
            <a:ext cx="26517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13648" y="2834640"/>
            <a:ext cx="2651760" cy="73152"/>
          </a:xfrm>
          <a:prstGeom prst="rect">
            <a:avLst/>
          </a:prstGeom>
          <a:solidFill>
            <a:srgbClr val="D6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14816" y="303580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Developers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3456432"/>
            <a:ext cx="233172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Teams who want one API instead of many provider contracts and integrations.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1993391" cy="384048"/>
          </a:xfrm>
          <a:prstGeom prst="roundRect">
            <a:avLst/>
          </a:prstGeom>
          <a:solidFill>
            <a:srgbClr val="17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810511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315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 product business with platform and API upside.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26080"/>
            <a:ext cx="3154680" cy="178308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FF7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926080"/>
            <a:ext cx="3154680" cy="7315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1272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Subscription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47872"/>
            <a:ext cx="283464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Users pay for premium model access, higher limits, and provider-specific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2926080"/>
            <a:ext cx="3154680" cy="178308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1F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41648" y="2926080"/>
            <a:ext cx="3154680" cy="73152"/>
          </a:xfrm>
          <a:prstGeom prst="rect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31272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B2B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3547872"/>
            <a:ext cx="283464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Companies license orchestration and control capabilities for internal and product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7" y="2926080"/>
            <a:ext cx="3794760" cy="1783080"/>
          </a:xfrm>
          <a:prstGeom prst="roundRect">
            <a:avLst/>
          </a:prstGeom>
          <a:solidFill>
            <a:srgbClr val="171C30"/>
          </a:solidFill>
          <a:ln w="13970">
            <a:solidFill>
              <a:srgbClr val="62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24927" y="2926080"/>
            <a:ext cx="3794760" cy="73152"/>
          </a:xfrm>
          <a:prstGeom prst="rect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5" y="312724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Unified AI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5" y="3547872"/>
            <a:ext cx="347472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9D1E5"/>
                </a:solidFill>
                <a:latin typeface="Aptos"/>
              </a:rPr>
              <a:t>External developers pay for AIPIs endpoints rather than integrating every provider themselves.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457200"/>
            <a:ext cx="1234440" cy="384048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1120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772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D1120"/>
                </a:solidFill>
                <a:latin typeface="Aptos"/>
              </a:rPr>
              <a:t>Start with provider access, expand into orchestration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26080"/>
            <a:ext cx="32004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926080"/>
            <a:ext cx="3200400" cy="73152"/>
          </a:xfrm>
          <a:prstGeom prst="rect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12724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47872"/>
            <a:ext cx="28803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Chat UI, initial providers, unified request layer, and account-level usage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926080"/>
            <a:ext cx="32004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2926080"/>
            <a:ext cx="3200400" cy="73152"/>
          </a:xfrm>
          <a:prstGeom prst="rect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312724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3547872"/>
            <a:ext cx="28803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Routing logic, fallback rules, pricing tiers, and observability dashboards.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2926080"/>
            <a:ext cx="320040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79792" y="2926080"/>
            <a:ext cx="3200400" cy="7315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12724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1120"/>
                </a:solidFill>
                <a:latin typeface="Aptos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547872"/>
            <a:ext cx="2880360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D657B"/>
                </a:solidFill>
                <a:latin typeface="Aptos"/>
              </a:rPr>
              <a:t>Enterprise policy controls, workflow APIs, and deeper private model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57800"/>
            <a:ext cx="9326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57B"/>
                </a:solidFill>
                <a:latin typeface="Aptos"/>
              </a:rPr>
              <a:t>The long-term position is a default access layer for teams that want provider agility without operational fragmentation.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297680"/>
            <a:ext cx="2011680" cy="2011680"/>
          </a:xfrm>
          <a:prstGeom prst="ellipse">
            <a:avLst/>
          </a:prstGeom>
          <a:solidFill>
            <a:srgbClr val="1F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4480560"/>
            <a:ext cx="1417320" cy="1417320"/>
          </a:xfrm>
          <a:prstGeom prst="ellipse">
            <a:avLst/>
          </a:prstGeom>
          <a:solidFill>
            <a:srgbClr val="62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22992" y="4645152"/>
            <a:ext cx="960120" cy="96012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457200"/>
            <a:ext cx="1234440" cy="384048"/>
          </a:xfrm>
          <a:prstGeom prst="roundRect">
            <a:avLst/>
          </a:prstGeom>
          <a:solidFill>
            <a:srgbClr val="17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0352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72237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AIPIs is building the access layer for the multi-model AI 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7440"/>
            <a:ext cx="6217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C9D1E5"/>
                </a:solidFill>
                <a:latin typeface="Aptos"/>
              </a:rPr>
              <a:t>One interface, one gateway, and one control plane for the AI providers people actually want to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074920"/>
            <a:ext cx="4389120" cy="868680"/>
          </a:xfrm>
          <a:prstGeom prst="roundRect">
            <a:avLst/>
          </a:prstGeom>
          <a:solidFill>
            <a:srgbClr val="17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57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D6FF72"/>
                </a:solidFill>
                <a:latin typeface="Aptos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8640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Founding platform deck for AIPIs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9D1E5"/>
                </a:solidFill>
                <a:latin typeface="Aptos"/>
              </a:rPr>
              <a:t>multi-provider ai access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